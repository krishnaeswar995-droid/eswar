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567d3c5-fca9-d027-2b82-7cf21f110034}">
          <p14:sldIdLst>
            <p14:sldId id="256"/>
            <p14:sldId id="257"/>
            <p14:sldId id="258"/>
          </p14:sldIdLst>
        </p14:section>
        <p14:section name="Business logic" id="{aab59586-8105-7cfd-4c4b-0afa56867bad}">
          <p14:sldIdLst>
            <p14:sldId id="259"/>
            <p14:sldId id="260"/>
          </p14:sldIdLst>
        </p14:section>
        <p14:section name="Design" id="{c1270434-e8b0-c008-753d-851d847a15b7}">
          <p14:sldIdLst>
            <p14:sldId id="261"/>
            <p14:sldId id="262"/>
            <p14:sldId id="263"/>
            <p14:sldId id="264"/>
          </p14:sldIdLst>
        </p14:section>
        <p14:section name="Testing and next steps" id="{d8982130-33d9-29ae-beff-73f479641520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30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4303A"/>
                </a:solidFill>
                <a:latin typeface="+mn-lt"/>
              </a:rPr>
              <a:t>Test cases by area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1773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30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Successful booking</c:v>
                  </c:pt>
                  <c:pt idx="1">
                    <c:v>Unavailable slot</c:v>
                  </c:pt>
                  <c:pt idx="2">
                    <c:v>Double booking</c:v>
                  </c:pt>
                  <c:pt idx="3">
                    <c:v>Invalid date/time</c:v>
                  </c:pt>
                  <c:pt idx="4">
                    <c:v>Cancellation</c:v>
                  </c:pt>
                  <c:pt idx="5">
                    <c:v>Rescheduling</c:v>
                  </c:pt>
                  <c:pt idx="6">
                    <c:v>Login &amp; access</c:v>
                  </c:pt>
                  <c:pt idx="7">
                    <c:v>Doctor availability</c:v>
                  </c:pt>
                  <c:pt idx="8">
                    <c:v>Admin &amp; edge cases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30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586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Walkthrough of the assessment: problem, business logic, design decisions, assumptions, testing and how Claude and GitHub were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BO-01 to BO-05 in the BRD. The three shown are the measurable targets that drive the design: online share, zero double bookings and booking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checks run in rules.js as pure functions; the UI, the store and the unit tests all call the same functions. Rule IDs are shown in error messages for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gap list (G-01 to G-17) is in BRD section 11. Each decision is an assumption to confirm with the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was used for requirement analysis, wireframes, the React code, the test suite and documentation; GitHub holds the repository with commit history per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Hospital Appointment Booking System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Hospital Appointment Booking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Business analysis, design and clickable prototype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Archana Jangamgunta ·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booking hides real availability, so slots clash and cancellations go to waste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Today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Appointments are booked by phone and at the front desk.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Two patients can be given the same doctor and time.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cancelled slot is not visible to anyone who could use it.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Doctors have no single view of their day.</a:t>
            </a:r>
            <a:endParaRPr lang="en-US" sz="1300" dirty="0"/>
          </a:p>
        </p:txBody>
      </p:sp>
      <p:sp>
        <p:nvSpPr>
          <p:cNvPr id="4" name="kpi-0"/>
          <p:cNvSpPr/>
          <p:nvPr/>
        </p:nvSpPr>
        <p:spPr>
          <a:xfrm>
            <a:off x="4754880" y="1234440"/>
            <a:ext cx="39319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234440"/>
            <a:ext cx="73152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83480" y="134416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≥ 60%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3441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outpatient bookings made online within 6 months</a:t>
            </a:r>
            <a:endParaRPr lang="en-US" sz="1200" dirty="0"/>
          </a:p>
        </p:txBody>
      </p:sp>
      <p:sp>
        <p:nvSpPr>
          <p:cNvPr id="8" name="kpi-1"/>
          <p:cNvSpPr/>
          <p:nvPr/>
        </p:nvSpPr>
        <p:spPr>
          <a:xfrm>
            <a:off x="4754880" y="2350008"/>
            <a:ext cx="39319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350008"/>
            <a:ext cx="73152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245973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5973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confirmed double bookings</a:t>
            </a:r>
            <a:endParaRPr lang="en-US" sz="1200" dirty="0"/>
          </a:p>
        </p:txBody>
      </p:sp>
      <p:sp>
        <p:nvSpPr>
          <p:cNvPr id="12" name="kpi-2"/>
          <p:cNvSpPr/>
          <p:nvPr/>
        </p:nvSpPr>
        <p:spPr>
          <a:xfrm>
            <a:off x="4754880" y="3465576"/>
            <a:ext cx="393192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3465576"/>
            <a:ext cx="73152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357530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≤ 3 min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57530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 complete a booking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deliverable lives in one GitHub repository, traced to the same requirement IDs</a:t>
            </a:r>
            <a:endParaRPr lang="en-US" sz="2200" dirty="0"/>
          </a:p>
        </p:txBody>
      </p:sp>
      <p:sp>
        <p:nvSpPr>
          <p:cNvPr id="3" name="deliverable-0"/>
          <p:cNvSpPr/>
          <p:nvPr/>
        </p:nvSpPr>
        <p:spPr>
          <a:xfrm>
            <a:off x="457200" y="1234440"/>
            <a:ext cx="260604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09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 objectives, 50+ functional requirements, 16 business rules, 15 user stories with acceptance criteria, gaps and assumptions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docs/BRD.md · .docx</a:t>
            </a:r>
            <a:endParaRPr lang="en-US" sz="900" dirty="0"/>
          </a:p>
        </p:txBody>
      </p:sp>
      <p:sp>
        <p:nvSpPr>
          <p:cNvPr id="7" name="deliverable-1"/>
          <p:cNvSpPr/>
          <p:nvPr/>
        </p:nvSpPr>
        <p:spPr>
          <a:xfrm>
            <a:off x="3246120" y="1234440"/>
            <a:ext cx="260604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flows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1709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Patient, doctor, admin and access-control flows plus the appointment lifecycle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docs/user-flows</a:t>
            </a:r>
            <a:endParaRPr lang="en-US" sz="900" dirty="0"/>
          </a:p>
        </p:txBody>
      </p:sp>
      <p:sp>
        <p:nvSpPr>
          <p:cNvPr id="11" name="deliverable-2"/>
          <p:cNvSpPr/>
          <p:nvPr/>
        </p:nvSpPr>
        <p:spPr>
          <a:xfrm>
            <a:off x="6035040" y="1234440"/>
            <a:ext cx="260604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9632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Wireframes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17099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eight required screens, annotated with requirement IDs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docs/wireframes</a:t>
            </a:r>
            <a:endParaRPr lang="en-US" sz="900" dirty="0"/>
          </a:p>
        </p:txBody>
      </p:sp>
      <p:sp>
        <p:nvSpPr>
          <p:cNvPr id="15" name="deliverable-3"/>
          <p:cNvSpPr/>
          <p:nvPr/>
        </p:nvSpPr>
        <p:spPr>
          <a:xfrm>
            <a:off x="457200" y="2971800"/>
            <a:ext cx="260604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Prototype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4472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Responsive React app with mock data: book, cancel, reschedule, doctor and admin tools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prototype/</a:t>
            </a:r>
            <a:endParaRPr lang="en-US" sz="900" dirty="0"/>
          </a:p>
        </p:txBody>
      </p:sp>
      <p:sp>
        <p:nvSpPr>
          <p:cNvPr id="19" name="deliverable-4"/>
          <p:cNvSpPr/>
          <p:nvPr/>
        </p:nvSpPr>
        <p:spPr>
          <a:xfrm>
            <a:off x="3246120" y="2971800"/>
            <a:ext cx="260604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10712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cases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410712" y="34472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38 cases executed in a browser, actual results recorded, plus 14 rule unit tests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10712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docs/testing</a:t>
            </a:r>
            <a:endParaRPr lang="en-US" sz="900" dirty="0"/>
          </a:p>
        </p:txBody>
      </p:sp>
      <p:sp>
        <p:nvSpPr>
          <p:cNvPr id="23" name="deliverable-5"/>
          <p:cNvSpPr/>
          <p:nvPr/>
        </p:nvSpPr>
        <p:spPr>
          <a:xfrm>
            <a:off x="6035040" y="2971800"/>
            <a:ext cx="2606040" cy="15544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99632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This deck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199632" y="34472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Business logic, design decisions and assumptions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docs/presentation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 decides whether a slot can be booked, so double bookings cannot happen</a:t>
            </a:r>
            <a:endParaRPr lang="en-US" sz="2200" dirty="0"/>
          </a:p>
        </p:txBody>
      </p:sp>
      <p:sp>
        <p:nvSpPr>
          <p:cNvPr id="3" name="cond-0"/>
          <p:cNvSpPr/>
          <p:nvPr/>
        </p:nvSpPr>
        <p:spPr>
          <a:xfrm>
            <a:off x="457200" y="1371600"/>
            <a:ext cx="182880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81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Published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28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doctor has made this time available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and</a:t>
            </a:r>
            <a:endParaRPr lang="en-US" sz="900" dirty="0"/>
          </a:p>
        </p:txBody>
      </p:sp>
      <p:sp>
        <p:nvSpPr>
          <p:cNvPr id="7" name="cond-1"/>
          <p:cNvSpPr/>
          <p:nvPr/>
        </p:nvSpPr>
        <p:spPr>
          <a:xfrm>
            <a:off x="2514600" y="1371600"/>
            <a:ext cx="182880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481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 the future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828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Not passed; within 30 days; on the half hour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18288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and</a:t>
            </a:r>
            <a:endParaRPr lang="en-US" sz="900" dirty="0"/>
          </a:p>
        </p:txBody>
      </p:sp>
      <p:sp>
        <p:nvSpPr>
          <p:cNvPr id="11" name="cond-2"/>
          <p:cNvSpPr/>
          <p:nvPr/>
        </p:nvSpPr>
        <p:spPr>
          <a:xfrm>
            <a:off x="4572000" y="1371600"/>
            <a:ext cx="182880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14813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 taken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828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No appointment with status Booked holds it</a:t>
            </a:r>
            <a:endParaRPr lang="en-US" sz="1050" dirty="0"/>
          </a:p>
        </p:txBody>
      </p:sp>
      <p:sp>
        <p:nvSpPr>
          <p:cNvPr id="14" name="open-result"/>
          <p:cNvSpPr/>
          <p:nvPr/>
        </p:nvSpPr>
        <p:spPr>
          <a:xfrm>
            <a:off x="6720840" y="1371600"/>
            <a:ext cx="1965960" cy="1234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Slot is open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1828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Shown as selectable and checked again on Confirm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7830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=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80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Why it works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Availability is derived from appointments, never stored twice, so it cannot drift out of sync.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Cancel only changes a status, so the slot is released immediately (BR-05).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Reschedule moves one appointment, so the old slot frees and the new one is held in one step (BR-06).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Production needs the same check on the server plus a unique constraint on doctor + start time (NFR-03).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 gave eight rules; analysis found eight more that the system needs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840480"/>
                <a:gridCol w="822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Gap in the brief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Decision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How long is a slot? When is the clinic open?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30 minutes, 09:00–16:30; book up to 30 days ahead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BR-09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Can patients cancel at the last minute?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Online changes allowed until 2 hours before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BR-10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Can a patient book two doctors at the same time?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No — blocked at confirm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BR-11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What if a doctor removes a booked slot?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Not allowed; cancel the appointment first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BR-12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Two patients confirm the same slot at once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Re-check on confirm; server unique constraint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FR-21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When can a visit be marked completed?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Only after its start time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BR-13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Can reschedule change the doctor?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No — cancel and book again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BR-14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One patient holding many slots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Maximum 3 upcoming appointments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BR-16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goes from search to confirmed booking in four screens</a:t>
            </a:r>
            <a:endParaRPr lang="en-US" sz="2200" dirty="0"/>
          </a:p>
        </p:txBody>
      </p:sp>
      <p:pic>
        <p:nvPicPr>
          <p:cNvPr id="3" name="shot-03-doctor-profile" descr="/home/claude/hospital-appointment-booking/docs/screenshots/03-doctor-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1938528" cy="12115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1938528" cy="1211580"/>
          </a:xfrm>
          <a:prstGeom prst="rect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560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1. Choose a free slot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529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Booked times are struck through and cannot be picked</a:t>
            </a:r>
            <a:endParaRPr lang="en-US" sz="1000" dirty="0"/>
          </a:p>
        </p:txBody>
      </p:sp>
      <p:pic>
        <p:nvPicPr>
          <p:cNvPr id="7" name="shot-04-booking-review" descr="/home/claude/hospital-appointment-booking/docs/screenshots/04-booking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188720"/>
            <a:ext cx="1938528" cy="12115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42032" y="1188720"/>
            <a:ext cx="1938528" cy="1211580"/>
          </a:xfrm>
          <a:prstGeom prst="rect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542032" y="2560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2. Review and confirm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542032" y="28529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rules re-checked before saving</a:t>
            </a:r>
            <a:endParaRPr lang="en-US" sz="1000" dirty="0"/>
          </a:p>
        </p:txBody>
      </p:sp>
      <p:pic>
        <p:nvPicPr>
          <p:cNvPr id="11" name="shot-06-confirmation" descr="/home/claude/hospital-appointment-booking/docs/screenshots/06-confirm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1188720"/>
            <a:ext cx="1938528" cy="12115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626864" y="1188720"/>
            <a:ext cx="1938528" cy="1211580"/>
          </a:xfrm>
          <a:prstGeom prst="rect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4626864" y="2560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3. Confirmation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626864" y="28529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Reference number and the 2-hour cut-off</a:t>
            </a:r>
            <a:endParaRPr lang="en-US" sz="1000" dirty="0"/>
          </a:p>
        </p:txBody>
      </p:sp>
      <p:pic>
        <p:nvPicPr>
          <p:cNvPr id="15" name="shot-07-patient-dashboard" descr="/home/claude/hospital-appointment-booking/docs/screenshots/07-patient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1188720"/>
            <a:ext cx="1938528" cy="12115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711696" y="1188720"/>
            <a:ext cx="1938528" cy="1211580"/>
          </a:xfrm>
          <a:prstGeom prst="rect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711696" y="2560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4. Manage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711696" y="28529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Cancel or reschedule from one list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Guests can search and view profiles; login is asked for only at the booking step, and returns them to the slot they picked.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control their own availability; administrators see and fix everything</a:t>
            </a:r>
            <a:endParaRPr lang="en-US" sz="2200" dirty="0"/>
          </a:p>
        </p:txBody>
      </p:sp>
      <p:pic>
        <p:nvPicPr>
          <p:cNvPr id="3" name="shot-11-doctor-availability" descr="/home/claude/hospital-appointment-booking/docs/screenshots/11-doctor-avail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023360" cy="2514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4023360" cy="2514600"/>
          </a:xfrm>
          <a:prstGeom prst="rect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Doctor availability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Click a time to publish or remove it. Booked times are locked with the reason shown (BR-12).</a:t>
            </a:r>
            <a:endParaRPr lang="en-US" sz="1000" dirty="0"/>
          </a:p>
        </p:txBody>
      </p:sp>
      <p:pic>
        <p:nvPicPr>
          <p:cNvPr id="7" name="shot-12-admin-overview" descr="/home/claude/hospital-appointment-booking/docs/screenshots/12-admin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023360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1188720"/>
            <a:ext cx="4023360" cy="2514600"/>
          </a:xfrm>
          <a:prstGeom prst="rect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663440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Admin overview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Today's totals, demand per doctor and an activity log; tabs for appointments, doctors, patients and reports.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design decisions shaped the screens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43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Prevent errors instead of reporting them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143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Unavailable slots cannot be selected, so most invalid bookings never reach the confirm step.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Show the rule when an action is blocked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1874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Disabled buttons carry the reason (e.g. the 2-hour cut-off and the phone number to call).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73152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06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One login, role-based landing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606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Patients, doctors and admins share a login; each lands on their own dashboard and other pages redirect.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73152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337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Readable for every patient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Atkinson Hyperlegible typeface, large touch targets, keyboard focus, layouts that work at 390 px.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73152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069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Rules in one place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4069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 business rules are pure functions reused by the UI and the tests — the same logic a backend would own.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to confirm with the hospital before build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Single site, single time zone (Europe/London).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One appointment = one 30-minute slot, one patient, one doctor.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Fees are paid at the hospital; no online payment in this phase.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Doctors keep their own availability; admins can edit it for them.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23444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Patients book only for themselves (no family accounts yet).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Email is the unique login for every role.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Email/SMS is sent by an existing hospital service.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prototype enforces rules in the browser only; production enforces them on the server.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Out of scope: online payment, medical records, video consultations, native apps, PAS/HIS integration.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test cases were executed in a real browser, and all passed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188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38 / 38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040880" y="1188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passed (Playwright, fixed clock, fresh data per case)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21031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14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103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unit tests on the business rules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viewports: desktop 1280 px and mobile 390 px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3977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</a:rPr>
              <a:t>Limitation: with no backend, simultaneous booking (TC-06) is simulated in the page.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did the analysis, design and build; GitHub holds every version</a:t>
            </a:r>
            <a:endParaRPr lang="en-US" sz="2200" dirty="0"/>
          </a:p>
        </p:txBody>
      </p:sp>
      <p:sp>
        <p:nvSpPr>
          <p:cNvPr id="3" name="step-0"/>
          <p:cNvSpPr/>
          <p:nvPr/>
        </p:nvSpPr>
        <p:spPr>
          <a:xfrm>
            <a:off x="457200" y="1280160"/>
            <a:ext cx="1536192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Analyse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21408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Claude reviewed the brief, drafted the BRD and surfaced 17 gaps for decision</a:t>
            </a:r>
            <a:endParaRPr lang="en-US" sz="950" dirty="0"/>
          </a:p>
        </p:txBody>
      </p:sp>
      <p:sp>
        <p:nvSpPr>
          <p:cNvPr id="7" name="step-1"/>
          <p:cNvSpPr/>
          <p:nvPr/>
        </p:nvSpPr>
        <p:spPr>
          <a:xfrm>
            <a:off x="2130552" y="1280160"/>
            <a:ext cx="1536192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67712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Design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67712" y="2121408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User flows in Mermaid and annotated HTML wireframes for all eight screens</a:t>
            </a:r>
            <a:endParaRPr lang="en-US" sz="950" dirty="0"/>
          </a:p>
        </p:txBody>
      </p:sp>
      <p:sp>
        <p:nvSpPr>
          <p:cNvPr id="11" name="step-2"/>
          <p:cNvSpPr/>
          <p:nvPr/>
        </p:nvSpPr>
        <p:spPr>
          <a:xfrm>
            <a:off x="3803904" y="1280160"/>
            <a:ext cx="1536192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41064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Build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41064" y="2121408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React prototype written with Claude, business rules isolated in one tested module</a:t>
            </a:r>
            <a:endParaRPr lang="en-US" sz="950" dirty="0"/>
          </a:p>
        </p:txBody>
      </p:sp>
      <p:sp>
        <p:nvSpPr>
          <p:cNvPr id="15" name="step-3"/>
          <p:cNvSpPr/>
          <p:nvPr/>
        </p:nvSpPr>
        <p:spPr>
          <a:xfrm>
            <a:off x="5477256" y="1280160"/>
            <a:ext cx="1536192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14416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614416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Test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2121408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Claude wrote and ran 38 browser test cases; results fed straight into the Excel sheet</a:t>
            </a:r>
            <a:endParaRPr lang="en-US" sz="950" dirty="0"/>
          </a:p>
        </p:txBody>
      </p:sp>
      <p:sp>
        <p:nvSpPr>
          <p:cNvPr id="19" name="step-4"/>
          <p:cNvSpPr/>
          <p:nvPr/>
        </p:nvSpPr>
        <p:spPr>
          <a:xfrm>
            <a:off x="7150608" y="1280160"/>
            <a:ext cx="1536192" cy="2103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87768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287768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Version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2121408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One commit per deliverable, pushed to GitHub; README links every artefact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artefact is reproducible from the repository: the BRD Word file, test sheet and this deck are generated by scripts kept beside them.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6460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Confirm the assumptions and added rules with operations and clinical leads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Build the API and database with a unique constraint on doctor + slot start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Connect email/SMS notifications; complete a DPIA for patient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Run UAT with patients, doctors and front-desk staff using the test sheet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 Hildas">
  <a:themeElements>
    <a:clrScheme name="St Hildas">
      <a:dk1>
        <a:srgbClr val="14303A"/>
      </a:dk1>
      <a:lt1>
        <a:srgbClr val="FFFFFF"/>
      </a:lt1>
      <a:dk2>
        <a:srgbClr val="3E5862"/>
      </a:dk2>
      <a:lt2>
        <a:srgbClr val="F3F6F5"/>
      </a:lt2>
      <a:accent1>
        <a:srgbClr val="17735F"/>
      </a:accent1>
      <a:accent2>
        <a:srgbClr val="24527A"/>
      </a:accent2>
      <a:accent3>
        <a:srgbClr val="B3261E"/>
      </a:accent3>
      <a:accent4>
        <a:srgbClr val="8A5A00"/>
      </a:accent4>
      <a:accent5>
        <a:srgbClr val="9FD0C1"/>
      </a:accent5>
      <a:accent6>
        <a:srgbClr val="D6E0DE"/>
      </a:accent6>
      <a:hlink>
        <a:srgbClr val="24527A"/>
      </a:hlink>
      <a:folHlink>
        <a:srgbClr val="3E5862"/>
      </a:folHlink>
    </a:clrScheme>
    <a:fontScheme name="St Hild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Appointment Booking System</dc:title>
  <dc:subject>PptxGenJS Presentation</dc:subject>
  <dc:creator>Archana Jangamgunta</dc:creator>
  <cp:lastModifiedBy>Archana Jangamgunta</cp:lastModifiedBy>
  <cp:revision>1</cp:revision>
  <dcterms:created xsi:type="dcterms:W3CDTF">2026-10-16T16:20:41Z</dcterms:created>
  <dcterms:modified xsi:type="dcterms:W3CDTF">2026-10-16T16:20:41Z</dcterms:modified>
</cp:coreProperties>
</file>